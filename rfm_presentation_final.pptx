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6" r:id="rId4"/>
    <p:sldId id="258" r:id="rId5"/>
    <p:sldId id="267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9" r:id="rId14"/>
    <p:sldId id="265" r:id="rId15"/>
  </p:sldIdLst>
  <p:sldSz cx="18288000" cy="10287000"/>
  <p:notesSz cx="6858000" cy="9144000"/>
  <p:embeddedFontLst>
    <p:embeddedFont>
      <p:font typeface="Algerian" panose="04020705040A02060702" pitchFamily="82" charset="0"/>
      <p:regular r:id="rId17"/>
    </p:embeddedFont>
    <p:embeddedFont>
      <p:font typeface="Arial Rounded MT Bold" panose="020F0704030504030204" pitchFamily="34" charset="0"/>
      <p:regular r:id="rId18"/>
    </p:embeddedFont>
    <p:embeddedFont>
      <p:font typeface="Bahnschrift" panose="020B0502040204020203" pitchFamily="34" charset="0"/>
      <p:regular r:id="rId19"/>
      <p:bold r:id="rId20"/>
    </p:embeddedFont>
    <p:embeddedFont>
      <p:font typeface="Heading Now 71-78" panose="020B0604020202020204" charset="0"/>
      <p:regular r:id="rId21"/>
    </p:embeddedFont>
    <p:embeddedFont>
      <p:font typeface="Poppins Medium" panose="00000600000000000000" pitchFamily="2" charset="0"/>
      <p:regular r:id="rId22"/>
      <p:italic r:id="rId23"/>
    </p:embeddedFont>
    <p:embeddedFont>
      <p:font typeface="TT Firs Neue" panose="020B0604020202020204" charset="0"/>
      <p:regular r:id="rId24"/>
    </p:embeddedFont>
    <p:embeddedFont>
      <p:font typeface="TT Firs Neue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8147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3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CE646D-7231-4941-8C40-4027AEB97EF0}" type="doc">
      <dgm:prSet loTypeId="urn:microsoft.com/office/officeart/2005/8/layout/process1" loCatId="process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DB87F5C6-E5DD-4C21-8247-CE970F38A7DC}">
      <dgm:prSet phldrT="[Text]" phldr="0"/>
      <dgm:spPr/>
      <dgm:t>
        <a:bodyPr/>
        <a:lstStyle/>
        <a:p>
          <a:r>
            <a:rPr lang="en-US" dirty="0" err="1"/>
            <a:t>DataCleaning</a:t>
          </a:r>
          <a:endParaRPr lang="en-IN" dirty="0"/>
        </a:p>
      </dgm:t>
    </dgm:pt>
    <dgm:pt modelId="{E88CDC0A-56BA-4A1A-A7AF-C41BD0783803}" type="parTrans" cxnId="{3E9BA01B-961F-422B-823B-6D1392DCF7FA}">
      <dgm:prSet/>
      <dgm:spPr/>
      <dgm:t>
        <a:bodyPr/>
        <a:lstStyle/>
        <a:p>
          <a:endParaRPr lang="en-IN"/>
        </a:p>
      </dgm:t>
    </dgm:pt>
    <dgm:pt modelId="{2A0D2224-350A-49F0-8E73-CC7A50D432D1}" type="sibTrans" cxnId="{3E9BA01B-961F-422B-823B-6D1392DCF7FA}">
      <dgm:prSet/>
      <dgm:spPr/>
      <dgm:t>
        <a:bodyPr/>
        <a:lstStyle/>
        <a:p>
          <a:endParaRPr lang="en-IN"/>
        </a:p>
      </dgm:t>
    </dgm:pt>
    <dgm:pt modelId="{A3650D80-0C96-413C-9512-E372CDBDEEF9}">
      <dgm:prSet phldrT="[Text]" phldr="0"/>
      <dgm:spPr/>
      <dgm:t>
        <a:bodyPr/>
        <a:lstStyle/>
        <a:p>
          <a:r>
            <a:rPr lang="en-US" dirty="0"/>
            <a:t>EDA</a:t>
          </a:r>
          <a:endParaRPr lang="en-IN" dirty="0"/>
        </a:p>
      </dgm:t>
    </dgm:pt>
    <dgm:pt modelId="{B78B66F4-492A-4E14-971A-1BC90E451DA2}" type="parTrans" cxnId="{33446000-668D-4CEE-824E-141D40B7CDF8}">
      <dgm:prSet/>
      <dgm:spPr/>
      <dgm:t>
        <a:bodyPr/>
        <a:lstStyle/>
        <a:p>
          <a:endParaRPr lang="en-IN"/>
        </a:p>
      </dgm:t>
    </dgm:pt>
    <dgm:pt modelId="{6BB2BF72-3B55-40F4-AB3D-07418766F940}" type="sibTrans" cxnId="{33446000-668D-4CEE-824E-141D40B7CDF8}">
      <dgm:prSet/>
      <dgm:spPr/>
      <dgm:t>
        <a:bodyPr/>
        <a:lstStyle/>
        <a:p>
          <a:endParaRPr lang="en-IN"/>
        </a:p>
      </dgm:t>
    </dgm:pt>
    <dgm:pt modelId="{C7800731-CB70-48EA-A2BF-05E2C737A22E}">
      <dgm:prSet/>
      <dgm:spPr/>
      <dgm:t>
        <a:bodyPr/>
        <a:lstStyle/>
        <a:p>
          <a:r>
            <a:rPr lang="en-US" dirty="0"/>
            <a:t>RFM SCORE CALCULATION</a:t>
          </a:r>
        </a:p>
      </dgm:t>
    </dgm:pt>
    <dgm:pt modelId="{01CECC8A-FCB2-4A00-B20C-038959922CEA}" type="parTrans" cxnId="{4D4537A6-CD44-4478-8657-2BDEFD3A85B3}">
      <dgm:prSet/>
      <dgm:spPr/>
      <dgm:t>
        <a:bodyPr/>
        <a:lstStyle/>
        <a:p>
          <a:endParaRPr lang="en-IN"/>
        </a:p>
      </dgm:t>
    </dgm:pt>
    <dgm:pt modelId="{595A0391-4598-4F80-BC4F-7F1F03A80E4B}" type="sibTrans" cxnId="{4D4537A6-CD44-4478-8657-2BDEFD3A85B3}">
      <dgm:prSet/>
      <dgm:spPr/>
      <dgm:t>
        <a:bodyPr/>
        <a:lstStyle/>
        <a:p>
          <a:endParaRPr lang="en-IN"/>
        </a:p>
      </dgm:t>
    </dgm:pt>
    <dgm:pt modelId="{A460D735-8ED8-4639-8DCC-4B0D449E4C7B}">
      <dgm:prSet/>
      <dgm:spPr/>
      <dgm:t>
        <a:bodyPr/>
        <a:lstStyle/>
        <a:p>
          <a:r>
            <a:rPr lang="en-US" dirty="0"/>
            <a:t>Model building</a:t>
          </a:r>
          <a:endParaRPr lang="en-IN" dirty="0"/>
        </a:p>
      </dgm:t>
    </dgm:pt>
    <dgm:pt modelId="{883EAC00-328E-4862-96AE-F7E85FE7A093}" type="parTrans" cxnId="{C5B4DC4D-C52F-46AE-99ED-53034745FAF7}">
      <dgm:prSet/>
      <dgm:spPr/>
      <dgm:t>
        <a:bodyPr/>
        <a:lstStyle/>
        <a:p>
          <a:endParaRPr lang="en-IN"/>
        </a:p>
      </dgm:t>
    </dgm:pt>
    <dgm:pt modelId="{C317B91B-F2A8-4254-8D8E-E1D94050DDE2}" type="sibTrans" cxnId="{C5B4DC4D-C52F-46AE-99ED-53034745FAF7}">
      <dgm:prSet/>
      <dgm:spPr/>
      <dgm:t>
        <a:bodyPr/>
        <a:lstStyle/>
        <a:p>
          <a:endParaRPr lang="en-IN"/>
        </a:p>
      </dgm:t>
    </dgm:pt>
    <dgm:pt modelId="{CFEADE65-7697-4AA5-9352-C8B09993A32C}">
      <dgm:prSet/>
      <dgm:spPr/>
      <dgm:t>
        <a:bodyPr/>
        <a:lstStyle/>
        <a:p>
          <a:r>
            <a:rPr lang="en-US" dirty="0"/>
            <a:t>Model </a:t>
          </a:r>
          <a:r>
            <a:rPr lang="en-US" dirty="0" err="1"/>
            <a:t>Evalaution</a:t>
          </a:r>
          <a:r>
            <a:rPr lang="en-US" dirty="0"/>
            <a:t> and solution</a:t>
          </a:r>
          <a:endParaRPr lang="en-IN" dirty="0"/>
        </a:p>
      </dgm:t>
    </dgm:pt>
    <dgm:pt modelId="{122AB4D9-2E2A-48C9-896A-482FC5DB8454}" type="parTrans" cxnId="{4FE5D64F-A7D7-4CDA-87E0-0FD355087BD0}">
      <dgm:prSet/>
      <dgm:spPr/>
      <dgm:t>
        <a:bodyPr/>
        <a:lstStyle/>
        <a:p>
          <a:endParaRPr lang="en-IN"/>
        </a:p>
      </dgm:t>
    </dgm:pt>
    <dgm:pt modelId="{260DF04C-56B2-44CE-B2E3-CD483D5D2531}" type="sibTrans" cxnId="{4FE5D64F-A7D7-4CDA-87E0-0FD355087BD0}">
      <dgm:prSet/>
      <dgm:spPr/>
      <dgm:t>
        <a:bodyPr/>
        <a:lstStyle/>
        <a:p>
          <a:endParaRPr lang="en-IN"/>
        </a:p>
      </dgm:t>
    </dgm:pt>
    <dgm:pt modelId="{B9F5B1BA-17AF-40D9-B4EE-31F54B829F4F}" type="pres">
      <dgm:prSet presAssocID="{1ACE646D-7231-4941-8C40-4027AEB97EF0}" presName="Name0" presStyleCnt="0">
        <dgm:presLayoutVars>
          <dgm:dir/>
          <dgm:resizeHandles val="exact"/>
        </dgm:presLayoutVars>
      </dgm:prSet>
      <dgm:spPr/>
    </dgm:pt>
    <dgm:pt modelId="{EF1C5FFE-F547-46A1-BF43-EAA65CF2842B}" type="pres">
      <dgm:prSet presAssocID="{DB87F5C6-E5DD-4C21-8247-CE970F38A7DC}" presName="node" presStyleLbl="node1" presStyleIdx="0" presStyleCnt="5" custScaleX="176519" custScaleY="166504">
        <dgm:presLayoutVars>
          <dgm:bulletEnabled val="1"/>
        </dgm:presLayoutVars>
      </dgm:prSet>
      <dgm:spPr/>
    </dgm:pt>
    <dgm:pt modelId="{A247A4CB-C491-415F-9AF4-1D83581E1523}" type="pres">
      <dgm:prSet presAssocID="{2A0D2224-350A-49F0-8E73-CC7A50D432D1}" presName="sibTrans" presStyleLbl="sibTrans2D1" presStyleIdx="0" presStyleCnt="4"/>
      <dgm:spPr/>
    </dgm:pt>
    <dgm:pt modelId="{417B0ECE-6110-484D-8901-B14632C613C3}" type="pres">
      <dgm:prSet presAssocID="{2A0D2224-350A-49F0-8E73-CC7A50D432D1}" presName="connectorText" presStyleLbl="sibTrans2D1" presStyleIdx="0" presStyleCnt="4"/>
      <dgm:spPr/>
    </dgm:pt>
    <dgm:pt modelId="{F0338301-1B5F-4DA5-BA9F-F877CF2D0597}" type="pres">
      <dgm:prSet presAssocID="{A3650D80-0C96-413C-9512-E372CDBDEEF9}" presName="node" presStyleLbl="node1" presStyleIdx="1" presStyleCnt="5" custScaleX="155127" custScaleY="174435">
        <dgm:presLayoutVars>
          <dgm:bulletEnabled val="1"/>
        </dgm:presLayoutVars>
      </dgm:prSet>
      <dgm:spPr/>
    </dgm:pt>
    <dgm:pt modelId="{EC5C093D-DE21-40E6-B05A-8C86C493C34A}" type="pres">
      <dgm:prSet presAssocID="{6BB2BF72-3B55-40F4-AB3D-07418766F940}" presName="sibTrans" presStyleLbl="sibTrans2D1" presStyleIdx="1" presStyleCnt="4"/>
      <dgm:spPr/>
    </dgm:pt>
    <dgm:pt modelId="{0D18D640-425D-4B31-B197-7F66979D9E11}" type="pres">
      <dgm:prSet presAssocID="{6BB2BF72-3B55-40F4-AB3D-07418766F940}" presName="connectorText" presStyleLbl="sibTrans2D1" presStyleIdx="1" presStyleCnt="4"/>
      <dgm:spPr/>
    </dgm:pt>
    <dgm:pt modelId="{79998693-74A1-4B3F-B5F7-A053AB783AA9}" type="pres">
      <dgm:prSet presAssocID="{C7800731-CB70-48EA-A2BF-05E2C737A22E}" presName="node" presStyleLbl="node1" presStyleIdx="2" presStyleCnt="5" custScaleX="151782" custScaleY="190140">
        <dgm:presLayoutVars>
          <dgm:bulletEnabled val="1"/>
        </dgm:presLayoutVars>
      </dgm:prSet>
      <dgm:spPr/>
    </dgm:pt>
    <dgm:pt modelId="{89D9E76F-0557-4779-A4CE-023C71737210}" type="pres">
      <dgm:prSet presAssocID="{595A0391-4598-4F80-BC4F-7F1F03A80E4B}" presName="sibTrans" presStyleLbl="sibTrans2D1" presStyleIdx="2" presStyleCnt="4"/>
      <dgm:spPr/>
    </dgm:pt>
    <dgm:pt modelId="{4D13D78C-36D5-4370-83FD-9ED34C3E7F3D}" type="pres">
      <dgm:prSet presAssocID="{595A0391-4598-4F80-BC4F-7F1F03A80E4B}" presName="connectorText" presStyleLbl="sibTrans2D1" presStyleIdx="2" presStyleCnt="4"/>
      <dgm:spPr/>
    </dgm:pt>
    <dgm:pt modelId="{597840CC-68BC-46C7-844D-8D1DBD79D491}" type="pres">
      <dgm:prSet presAssocID="{A460D735-8ED8-4639-8DCC-4B0D449E4C7B}" presName="node" presStyleLbl="node1" presStyleIdx="3" presStyleCnt="5" custScaleX="157691" custScaleY="201510">
        <dgm:presLayoutVars>
          <dgm:bulletEnabled val="1"/>
        </dgm:presLayoutVars>
      </dgm:prSet>
      <dgm:spPr/>
    </dgm:pt>
    <dgm:pt modelId="{C61580C2-EA10-4E88-AB51-E7664D1D85CC}" type="pres">
      <dgm:prSet presAssocID="{C317B91B-F2A8-4254-8D8E-E1D94050DDE2}" presName="sibTrans" presStyleLbl="sibTrans2D1" presStyleIdx="3" presStyleCnt="4"/>
      <dgm:spPr/>
    </dgm:pt>
    <dgm:pt modelId="{3E54892F-A00C-4661-A712-5644C5AF47DF}" type="pres">
      <dgm:prSet presAssocID="{C317B91B-F2A8-4254-8D8E-E1D94050DDE2}" presName="connectorText" presStyleLbl="sibTrans2D1" presStyleIdx="3" presStyleCnt="4"/>
      <dgm:spPr/>
    </dgm:pt>
    <dgm:pt modelId="{C300EC76-7771-4D1D-BEFC-6FA3D813B78F}" type="pres">
      <dgm:prSet presAssocID="{CFEADE65-7697-4AA5-9352-C8B09993A32C}" presName="node" presStyleLbl="node1" presStyleIdx="4" presStyleCnt="5" custScaleX="183455" custScaleY="267136">
        <dgm:presLayoutVars>
          <dgm:bulletEnabled val="1"/>
        </dgm:presLayoutVars>
      </dgm:prSet>
      <dgm:spPr/>
    </dgm:pt>
  </dgm:ptLst>
  <dgm:cxnLst>
    <dgm:cxn modelId="{33446000-668D-4CEE-824E-141D40B7CDF8}" srcId="{1ACE646D-7231-4941-8C40-4027AEB97EF0}" destId="{A3650D80-0C96-413C-9512-E372CDBDEEF9}" srcOrd="1" destOrd="0" parTransId="{B78B66F4-492A-4E14-971A-1BC90E451DA2}" sibTransId="{6BB2BF72-3B55-40F4-AB3D-07418766F940}"/>
    <dgm:cxn modelId="{C7F3460F-188B-417D-91FE-4BF09AE0162F}" type="presOf" srcId="{C7800731-CB70-48EA-A2BF-05E2C737A22E}" destId="{79998693-74A1-4B3F-B5F7-A053AB783AA9}" srcOrd="0" destOrd="0" presId="urn:microsoft.com/office/officeart/2005/8/layout/process1"/>
    <dgm:cxn modelId="{3E9BA01B-961F-422B-823B-6D1392DCF7FA}" srcId="{1ACE646D-7231-4941-8C40-4027AEB97EF0}" destId="{DB87F5C6-E5DD-4C21-8247-CE970F38A7DC}" srcOrd="0" destOrd="0" parTransId="{E88CDC0A-56BA-4A1A-A7AF-C41BD0783803}" sibTransId="{2A0D2224-350A-49F0-8E73-CC7A50D432D1}"/>
    <dgm:cxn modelId="{65559B40-6773-4C99-A5F4-505BF0F2424C}" type="presOf" srcId="{6BB2BF72-3B55-40F4-AB3D-07418766F940}" destId="{0D18D640-425D-4B31-B197-7F66979D9E11}" srcOrd="1" destOrd="0" presId="urn:microsoft.com/office/officeart/2005/8/layout/process1"/>
    <dgm:cxn modelId="{EB141264-75FC-4A74-8C09-AC283268BDE0}" type="presOf" srcId="{C317B91B-F2A8-4254-8D8E-E1D94050DDE2}" destId="{C61580C2-EA10-4E88-AB51-E7664D1D85CC}" srcOrd="0" destOrd="0" presId="urn:microsoft.com/office/officeart/2005/8/layout/process1"/>
    <dgm:cxn modelId="{BE821764-5501-4D9B-A027-B3A82B256982}" type="presOf" srcId="{6BB2BF72-3B55-40F4-AB3D-07418766F940}" destId="{EC5C093D-DE21-40E6-B05A-8C86C493C34A}" srcOrd="0" destOrd="0" presId="urn:microsoft.com/office/officeart/2005/8/layout/process1"/>
    <dgm:cxn modelId="{5057AA49-61D6-4A89-B840-FBABD684A4D7}" type="presOf" srcId="{595A0391-4598-4F80-BC4F-7F1F03A80E4B}" destId="{89D9E76F-0557-4779-A4CE-023C71737210}" srcOrd="0" destOrd="0" presId="urn:microsoft.com/office/officeart/2005/8/layout/process1"/>
    <dgm:cxn modelId="{C5B4DC4D-C52F-46AE-99ED-53034745FAF7}" srcId="{1ACE646D-7231-4941-8C40-4027AEB97EF0}" destId="{A460D735-8ED8-4639-8DCC-4B0D449E4C7B}" srcOrd="3" destOrd="0" parTransId="{883EAC00-328E-4862-96AE-F7E85FE7A093}" sibTransId="{C317B91B-F2A8-4254-8D8E-E1D94050DDE2}"/>
    <dgm:cxn modelId="{4FE5D64F-A7D7-4CDA-87E0-0FD355087BD0}" srcId="{1ACE646D-7231-4941-8C40-4027AEB97EF0}" destId="{CFEADE65-7697-4AA5-9352-C8B09993A32C}" srcOrd="4" destOrd="0" parTransId="{122AB4D9-2E2A-48C9-896A-482FC5DB8454}" sibTransId="{260DF04C-56B2-44CE-B2E3-CD483D5D2531}"/>
    <dgm:cxn modelId="{97B57972-07D0-4938-A408-8A461D203EDB}" type="presOf" srcId="{C317B91B-F2A8-4254-8D8E-E1D94050DDE2}" destId="{3E54892F-A00C-4661-A712-5644C5AF47DF}" srcOrd="1" destOrd="0" presId="urn:microsoft.com/office/officeart/2005/8/layout/process1"/>
    <dgm:cxn modelId="{24D2B28E-E34D-4FB4-A063-B8FE2CAD0A08}" type="presOf" srcId="{595A0391-4598-4F80-BC4F-7F1F03A80E4B}" destId="{4D13D78C-36D5-4370-83FD-9ED34C3E7F3D}" srcOrd="1" destOrd="0" presId="urn:microsoft.com/office/officeart/2005/8/layout/process1"/>
    <dgm:cxn modelId="{4D4537A6-CD44-4478-8657-2BDEFD3A85B3}" srcId="{1ACE646D-7231-4941-8C40-4027AEB97EF0}" destId="{C7800731-CB70-48EA-A2BF-05E2C737A22E}" srcOrd="2" destOrd="0" parTransId="{01CECC8A-FCB2-4A00-B20C-038959922CEA}" sibTransId="{595A0391-4598-4F80-BC4F-7F1F03A80E4B}"/>
    <dgm:cxn modelId="{D978F7A7-A491-4F99-AB18-27E64DDEB925}" type="presOf" srcId="{2A0D2224-350A-49F0-8E73-CC7A50D432D1}" destId="{A247A4CB-C491-415F-9AF4-1D83581E1523}" srcOrd="0" destOrd="0" presId="urn:microsoft.com/office/officeart/2005/8/layout/process1"/>
    <dgm:cxn modelId="{3A709CB4-AC8F-4BEE-BCF9-E1F3CDB73ECC}" type="presOf" srcId="{A3650D80-0C96-413C-9512-E372CDBDEEF9}" destId="{F0338301-1B5F-4DA5-BA9F-F877CF2D0597}" srcOrd="0" destOrd="0" presId="urn:microsoft.com/office/officeart/2005/8/layout/process1"/>
    <dgm:cxn modelId="{F920B3B8-B198-4F32-A183-2C6A84379246}" type="presOf" srcId="{2A0D2224-350A-49F0-8E73-CC7A50D432D1}" destId="{417B0ECE-6110-484D-8901-B14632C613C3}" srcOrd="1" destOrd="0" presId="urn:microsoft.com/office/officeart/2005/8/layout/process1"/>
    <dgm:cxn modelId="{8B939BDB-D08E-4227-9AFD-6308CC1CA1E8}" type="presOf" srcId="{1ACE646D-7231-4941-8C40-4027AEB97EF0}" destId="{B9F5B1BA-17AF-40D9-B4EE-31F54B829F4F}" srcOrd="0" destOrd="0" presId="urn:microsoft.com/office/officeart/2005/8/layout/process1"/>
    <dgm:cxn modelId="{58046DE0-A588-4191-8932-60B957FD92D4}" type="presOf" srcId="{DB87F5C6-E5DD-4C21-8247-CE970F38A7DC}" destId="{EF1C5FFE-F547-46A1-BF43-EAA65CF2842B}" srcOrd="0" destOrd="0" presId="urn:microsoft.com/office/officeart/2005/8/layout/process1"/>
    <dgm:cxn modelId="{673414F1-A439-4AE1-87F1-6AC05EA80E15}" type="presOf" srcId="{CFEADE65-7697-4AA5-9352-C8B09993A32C}" destId="{C300EC76-7771-4D1D-BEFC-6FA3D813B78F}" srcOrd="0" destOrd="0" presId="urn:microsoft.com/office/officeart/2005/8/layout/process1"/>
    <dgm:cxn modelId="{95686DF9-05E2-49A5-8738-3F09C8699CFE}" type="presOf" srcId="{A460D735-8ED8-4639-8DCC-4B0D449E4C7B}" destId="{597840CC-68BC-46C7-844D-8D1DBD79D491}" srcOrd="0" destOrd="0" presId="urn:microsoft.com/office/officeart/2005/8/layout/process1"/>
    <dgm:cxn modelId="{F30A121E-428A-4D8B-B36A-19E5F763CBE3}" type="presParOf" srcId="{B9F5B1BA-17AF-40D9-B4EE-31F54B829F4F}" destId="{EF1C5FFE-F547-46A1-BF43-EAA65CF2842B}" srcOrd="0" destOrd="0" presId="urn:microsoft.com/office/officeart/2005/8/layout/process1"/>
    <dgm:cxn modelId="{F75034C6-0552-487C-9E3B-3C9CE96DFD21}" type="presParOf" srcId="{B9F5B1BA-17AF-40D9-B4EE-31F54B829F4F}" destId="{A247A4CB-C491-415F-9AF4-1D83581E1523}" srcOrd="1" destOrd="0" presId="urn:microsoft.com/office/officeart/2005/8/layout/process1"/>
    <dgm:cxn modelId="{5B23D746-CF67-4175-8E28-41D22B1B0A70}" type="presParOf" srcId="{A247A4CB-C491-415F-9AF4-1D83581E1523}" destId="{417B0ECE-6110-484D-8901-B14632C613C3}" srcOrd="0" destOrd="0" presId="urn:microsoft.com/office/officeart/2005/8/layout/process1"/>
    <dgm:cxn modelId="{AB04D857-756A-4930-9782-B82E22DFD64B}" type="presParOf" srcId="{B9F5B1BA-17AF-40D9-B4EE-31F54B829F4F}" destId="{F0338301-1B5F-4DA5-BA9F-F877CF2D0597}" srcOrd="2" destOrd="0" presId="urn:microsoft.com/office/officeart/2005/8/layout/process1"/>
    <dgm:cxn modelId="{15F7C4B5-6BC7-417F-9547-7883E05472B7}" type="presParOf" srcId="{B9F5B1BA-17AF-40D9-B4EE-31F54B829F4F}" destId="{EC5C093D-DE21-40E6-B05A-8C86C493C34A}" srcOrd="3" destOrd="0" presId="urn:microsoft.com/office/officeart/2005/8/layout/process1"/>
    <dgm:cxn modelId="{9F9F8040-F3B1-4A17-9BE4-4066C193654D}" type="presParOf" srcId="{EC5C093D-DE21-40E6-B05A-8C86C493C34A}" destId="{0D18D640-425D-4B31-B197-7F66979D9E11}" srcOrd="0" destOrd="0" presId="urn:microsoft.com/office/officeart/2005/8/layout/process1"/>
    <dgm:cxn modelId="{E444AB20-6C3D-4B65-A3AF-FD4BE2C2ACF4}" type="presParOf" srcId="{B9F5B1BA-17AF-40D9-B4EE-31F54B829F4F}" destId="{79998693-74A1-4B3F-B5F7-A053AB783AA9}" srcOrd="4" destOrd="0" presId="urn:microsoft.com/office/officeart/2005/8/layout/process1"/>
    <dgm:cxn modelId="{7F936EFF-AA5D-4DEB-9F9D-B155451A94CC}" type="presParOf" srcId="{B9F5B1BA-17AF-40D9-B4EE-31F54B829F4F}" destId="{89D9E76F-0557-4779-A4CE-023C71737210}" srcOrd="5" destOrd="0" presId="urn:microsoft.com/office/officeart/2005/8/layout/process1"/>
    <dgm:cxn modelId="{D05D22BE-C048-45C5-82EF-9C522EE07FFD}" type="presParOf" srcId="{89D9E76F-0557-4779-A4CE-023C71737210}" destId="{4D13D78C-36D5-4370-83FD-9ED34C3E7F3D}" srcOrd="0" destOrd="0" presId="urn:microsoft.com/office/officeart/2005/8/layout/process1"/>
    <dgm:cxn modelId="{846183A1-D429-4782-8D8A-F3282A815B33}" type="presParOf" srcId="{B9F5B1BA-17AF-40D9-B4EE-31F54B829F4F}" destId="{597840CC-68BC-46C7-844D-8D1DBD79D491}" srcOrd="6" destOrd="0" presId="urn:microsoft.com/office/officeart/2005/8/layout/process1"/>
    <dgm:cxn modelId="{EFFAF0A2-E50D-4E3E-B791-F5D4A9E033D2}" type="presParOf" srcId="{B9F5B1BA-17AF-40D9-B4EE-31F54B829F4F}" destId="{C61580C2-EA10-4E88-AB51-E7664D1D85CC}" srcOrd="7" destOrd="0" presId="urn:microsoft.com/office/officeart/2005/8/layout/process1"/>
    <dgm:cxn modelId="{89020A88-CBE6-4075-939F-FA944EE263FD}" type="presParOf" srcId="{C61580C2-EA10-4E88-AB51-E7664D1D85CC}" destId="{3E54892F-A00C-4661-A712-5644C5AF47DF}" srcOrd="0" destOrd="0" presId="urn:microsoft.com/office/officeart/2005/8/layout/process1"/>
    <dgm:cxn modelId="{1420BA64-53A9-4C4E-B4A6-7B4EA05E7900}" type="presParOf" srcId="{B9F5B1BA-17AF-40D9-B4EE-31F54B829F4F}" destId="{C300EC76-7771-4D1D-BEFC-6FA3D813B78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C5FFE-F547-46A1-BF43-EAA65CF2842B}">
      <dsp:nvSpPr>
        <dsp:cNvPr id="0" name=""/>
        <dsp:cNvSpPr/>
      </dsp:nvSpPr>
      <dsp:spPr>
        <a:xfrm>
          <a:off x="363" y="1903773"/>
          <a:ext cx="3101027" cy="175505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DataCleaning</a:t>
          </a:r>
          <a:endParaRPr lang="en-IN" sz="2800" kern="1200" dirty="0"/>
        </a:p>
      </dsp:txBody>
      <dsp:txXfrm>
        <a:off x="51767" y="1955177"/>
        <a:ext cx="2998219" cy="1652244"/>
      </dsp:txXfrm>
    </dsp:sp>
    <dsp:sp modelId="{A247A4CB-C491-415F-9AF4-1D83581E1523}">
      <dsp:nvSpPr>
        <dsp:cNvPr id="0" name=""/>
        <dsp:cNvSpPr/>
      </dsp:nvSpPr>
      <dsp:spPr>
        <a:xfrm>
          <a:off x="3277068" y="2563460"/>
          <a:ext cx="372434" cy="4356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3277068" y="2650596"/>
        <a:ext cx="260704" cy="261406"/>
      </dsp:txXfrm>
    </dsp:sp>
    <dsp:sp modelId="{F0338301-1B5F-4DA5-BA9F-F877CF2D0597}">
      <dsp:nvSpPr>
        <dsp:cNvPr id="0" name=""/>
        <dsp:cNvSpPr/>
      </dsp:nvSpPr>
      <dsp:spPr>
        <a:xfrm>
          <a:off x="3804098" y="1861974"/>
          <a:ext cx="2725220" cy="18386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EDA</a:t>
          </a:r>
          <a:endParaRPr lang="en-IN" sz="2800" kern="1200" dirty="0"/>
        </a:p>
      </dsp:txBody>
      <dsp:txXfrm>
        <a:off x="3857950" y="1915826"/>
        <a:ext cx="2617516" cy="1730946"/>
      </dsp:txXfrm>
    </dsp:sp>
    <dsp:sp modelId="{EC5C093D-DE21-40E6-B05A-8C86C493C34A}">
      <dsp:nvSpPr>
        <dsp:cNvPr id="0" name=""/>
        <dsp:cNvSpPr/>
      </dsp:nvSpPr>
      <dsp:spPr>
        <a:xfrm>
          <a:off x="6704995" y="2563460"/>
          <a:ext cx="372434" cy="4356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6704995" y="2650596"/>
        <a:ext cx="260704" cy="261406"/>
      </dsp:txXfrm>
    </dsp:sp>
    <dsp:sp modelId="{79998693-74A1-4B3F-B5F7-A053AB783AA9}">
      <dsp:nvSpPr>
        <dsp:cNvPr id="0" name=""/>
        <dsp:cNvSpPr/>
      </dsp:nvSpPr>
      <dsp:spPr>
        <a:xfrm>
          <a:off x="7232025" y="1779204"/>
          <a:ext cx="2666456" cy="20041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RFM SCORE CALCULATION</a:t>
          </a:r>
        </a:p>
      </dsp:txBody>
      <dsp:txXfrm>
        <a:off x="7290726" y="1837905"/>
        <a:ext cx="2549054" cy="1886788"/>
      </dsp:txXfrm>
    </dsp:sp>
    <dsp:sp modelId="{89D9E76F-0557-4779-A4CE-023C71737210}">
      <dsp:nvSpPr>
        <dsp:cNvPr id="0" name=""/>
        <dsp:cNvSpPr/>
      </dsp:nvSpPr>
      <dsp:spPr>
        <a:xfrm>
          <a:off x="10074158" y="2563460"/>
          <a:ext cx="372434" cy="4356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10074158" y="2650596"/>
        <a:ext cx="260704" cy="261406"/>
      </dsp:txXfrm>
    </dsp:sp>
    <dsp:sp modelId="{597840CC-68BC-46C7-844D-8D1DBD79D491}">
      <dsp:nvSpPr>
        <dsp:cNvPr id="0" name=""/>
        <dsp:cNvSpPr/>
      </dsp:nvSpPr>
      <dsp:spPr>
        <a:xfrm>
          <a:off x="10601188" y="1719281"/>
          <a:ext cx="2770263" cy="2124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Model building</a:t>
          </a:r>
          <a:endParaRPr lang="en-IN" sz="2700" kern="1200" dirty="0"/>
        </a:p>
      </dsp:txBody>
      <dsp:txXfrm>
        <a:off x="10663399" y="1781492"/>
        <a:ext cx="2645841" cy="1999614"/>
      </dsp:txXfrm>
    </dsp:sp>
    <dsp:sp modelId="{C61580C2-EA10-4E88-AB51-E7664D1D85CC}">
      <dsp:nvSpPr>
        <dsp:cNvPr id="0" name=""/>
        <dsp:cNvSpPr/>
      </dsp:nvSpPr>
      <dsp:spPr>
        <a:xfrm>
          <a:off x="13547129" y="2563460"/>
          <a:ext cx="372434" cy="4356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13547129" y="2650596"/>
        <a:ext cx="260704" cy="261406"/>
      </dsp:txXfrm>
    </dsp:sp>
    <dsp:sp modelId="{C300EC76-7771-4D1D-BEFC-6FA3D813B78F}">
      <dsp:nvSpPr>
        <dsp:cNvPr id="0" name=""/>
        <dsp:cNvSpPr/>
      </dsp:nvSpPr>
      <dsp:spPr>
        <a:xfrm>
          <a:off x="14074159" y="1373412"/>
          <a:ext cx="3222877" cy="28157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Model </a:t>
          </a:r>
          <a:r>
            <a:rPr lang="en-US" sz="2600" kern="1200" dirty="0" err="1"/>
            <a:t>Evalaution</a:t>
          </a:r>
          <a:r>
            <a:rPr lang="en-US" sz="2600" kern="1200" dirty="0"/>
            <a:t> and solution</a:t>
          </a:r>
          <a:endParaRPr lang="en-IN" sz="2600" kern="1200" dirty="0"/>
        </a:p>
      </dsp:txBody>
      <dsp:txXfrm>
        <a:off x="14156630" y="1455883"/>
        <a:ext cx="3057935" cy="2650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BA8DF-D58F-4A8F-864B-A7F62620F7A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6D269-E6A6-46CD-8A4B-A0E8E50B3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38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D269-E6A6-46CD-8A4B-A0E8E50B32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987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sv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svg"/><Relationship Id="rId7" Type="http://schemas.openxmlformats.org/officeDocument/2006/relationships/image" Target="../media/image3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8.svg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1916067"/>
            <a:ext cx="11049000" cy="7661413"/>
            <a:chOff x="0" y="0"/>
            <a:chExt cx="1349773" cy="598653"/>
          </a:xfrm>
        </p:grpSpPr>
        <p:sp>
          <p:nvSpPr>
            <p:cNvPr id="3" name="Freeform 3"/>
            <p:cNvSpPr/>
            <p:nvPr/>
          </p:nvSpPr>
          <p:spPr>
            <a:xfrm>
              <a:off x="6056" y="0"/>
              <a:ext cx="1337660" cy="598653"/>
            </a:xfrm>
            <a:custGeom>
              <a:avLst/>
              <a:gdLst/>
              <a:ahLst/>
              <a:cxnLst/>
              <a:rect l="l" t="t" r="r" b="b"/>
              <a:pathLst>
                <a:path w="1337660" h="598653">
                  <a:moveTo>
                    <a:pt x="1120813" y="0"/>
                  </a:moveTo>
                  <a:lnTo>
                    <a:pt x="216848" y="0"/>
                  </a:lnTo>
                  <a:cubicBezTo>
                    <a:pt x="204523" y="0"/>
                    <a:pt x="192999" y="6105"/>
                    <a:pt x="186077" y="16302"/>
                  </a:cubicBezTo>
                  <a:lnTo>
                    <a:pt x="5011" y="283024"/>
                  </a:lnTo>
                  <a:cubicBezTo>
                    <a:pt x="-1670" y="292866"/>
                    <a:pt x="-1670" y="305787"/>
                    <a:pt x="5011" y="315629"/>
                  </a:cubicBezTo>
                  <a:lnTo>
                    <a:pt x="186077" y="582351"/>
                  </a:lnTo>
                  <a:cubicBezTo>
                    <a:pt x="192999" y="592548"/>
                    <a:pt x="204523" y="598653"/>
                    <a:pt x="216848" y="598653"/>
                  </a:cubicBezTo>
                  <a:lnTo>
                    <a:pt x="1120813" y="598653"/>
                  </a:lnTo>
                  <a:cubicBezTo>
                    <a:pt x="1133137" y="598653"/>
                    <a:pt x="1144661" y="592548"/>
                    <a:pt x="1151584" y="582351"/>
                  </a:cubicBezTo>
                  <a:lnTo>
                    <a:pt x="1332650" y="315629"/>
                  </a:lnTo>
                  <a:cubicBezTo>
                    <a:pt x="1339331" y="305787"/>
                    <a:pt x="1339331" y="292866"/>
                    <a:pt x="1332650" y="283024"/>
                  </a:cubicBezTo>
                  <a:lnTo>
                    <a:pt x="1151584" y="16302"/>
                  </a:lnTo>
                  <a:cubicBezTo>
                    <a:pt x="1144661" y="6105"/>
                    <a:pt x="1133137" y="0"/>
                    <a:pt x="1120813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52400" y="-47625"/>
              <a:ext cx="1044973" cy="646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91251" y="1801039"/>
            <a:ext cx="4625352" cy="3265085"/>
            <a:chOff x="0" y="0"/>
            <a:chExt cx="735469" cy="5191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5469" cy="519175"/>
            </a:xfrm>
            <a:custGeom>
              <a:avLst/>
              <a:gdLst/>
              <a:ahLst/>
              <a:cxnLst/>
              <a:rect l="l" t="t" r="r" b="b"/>
              <a:pathLst>
                <a:path w="735469" h="519175">
                  <a:moveTo>
                    <a:pt x="167380" y="0"/>
                  </a:moveTo>
                  <a:lnTo>
                    <a:pt x="568089" y="0"/>
                  </a:lnTo>
                  <a:cubicBezTo>
                    <a:pt x="660530" y="0"/>
                    <a:pt x="735469" y="74939"/>
                    <a:pt x="735469" y="167380"/>
                  </a:cubicBezTo>
                  <a:lnTo>
                    <a:pt x="735469" y="351795"/>
                  </a:lnTo>
                  <a:cubicBezTo>
                    <a:pt x="735469" y="396187"/>
                    <a:pt x="717834" y="438761"/>
                    <a:pt x="686444" y="470151"/>
                  </a:cubicBezTo>
                  <a:cubicBezTo>
                    <a:pt x="655055" y="501541"/>
                    <a:pt x="612481" y="519175"/>
                    <a:pt x="568089" y="519175"/>
                  </a:cubicBezTo>
                  <a:lnTo>
                    <a:pt x="167380" y="519175"/>
                  </a:lnTo>
                  <a:cubicBezTo>
                    <a:pt x="122988" y="519175"/>
                    <a:pt x="80414" y="501541"/>
                    <a:pt x="49025" y="470151"/>
                  </a:cubicBezTo>
                  <a:cubicBezTo>
                    <a:pt x="17635" y="438761"/>
                    <a:pt x="0" y="396187"/>
                    <a:pt x="0" y="351795"/>
                  </a:cubicBezTo>
                  <a:lnTo>
                    <a:pt x="0" y="167380"/>
                  </a:lnTo>
                  <a:cubicBezTo>
                    <a:pt x="0" y="122988"/>
                    <a:pt x="17635" y="80414"/>
                    <a:pt x="49025" y="49025"/>
                  </a:cubicBezTo>
                  <a:cubicBezTo>
                    <a:pt x="80414" y="17635"/>
                    <a:pt x="122988" y="0"/>
                    <a:pt x="167380" y="0"/>
                  </a:cubicBezTo>
                  <a:close/>
                </a:path>
              </a:pathLst>
            </a:custGeom>
            <a:blipFill>
              <a:blip r:embed="rId2"/>
              <a:stretch>
                <a:fillRect l="-2976" r="-29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1591251" y="5220876"/>
            <a:ext cx="4625352" cy="3265085"/>
            <a:chOff x="0" y="0"/>
            <a:chExt cx="735469" cy="5191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5469" cy="519175"/>
            </a:xfrm>
            <a:custGeom>
              <a:avLst/>
              <a:gdLst/>
              <a:ahLst/>
              <a:cxnLst/>
              <a:rect l="l" t="t" r="r" b="b"/>
              <a:pathLst>
                <a:path w="735469" h="519175">
                  <a:moveTo>
                    <a:pt x="167380" y="0"/>
                  </a:moveTo>
                  <a:lnTo>
                    <a:pt x="568089" y="0"/>
                  </a:lnTo>
                  <a:cubicBezTo>
                    <a:pt x="660530" y="0"/>
                    <a:pt x="735469" y="74939"/>
                    <a:pt x="735469" y="167380"/>
                  </a:cubicBezTo>
                  <a:lnTo>
                    <a:pt x="735469" y="351795"/>
                  </a:lnTo>
                  <a:cubicBezTo>
                    <a:pt x="735469" y="396187"/>
                    <a:pt x="717834" y="438761"/>
                    <a:pt x="686444" y="470151"/>
                  </a:cubicBezTo>
                  <a:cubicBezTo>
                    <a:pt x="655055" y="501541"/>
                    <a:pt x="612481" y="519175"/>
                    <a:pt x="568089" y="519175"/>
                  </a:cubicBezTo>
                  <a:lnTo>
                    <a:pt x="167380" y="519175"/>
                  </a:lnTo>
                  <a:cubicBezTo>
                    <a:pt x="122988" y="519175"/>
                    <a:pt x="80414" y="501541"/>
                    <a:pt x="49025" y="470151"/>
                  </a:cubicBezTo>
                  <a:cubicBezTo>
                    <a:pt x="17635" y="438761"/>
                    <a:pt x="0" y="396187"/>
                    <a:pt x="0" y="351795"/>
                  </a:cubicBezTo>
                  <a:lnTo>
                    <a:pt x="0" y="167380"/>
                  </a:lnTo>
                  <a:cubicBezTo>
                    <a:pt x="0" y="122988"/>
                    <a:pt x="17635" y="80414"/>
                    <a:pt x="49025" y="49025"/>
                  </a:cubicBezTo>
                  <a:cubicBezTo>
                    <a:pt x="80414" y="17635"/>
                    <a:pt x="122988" y="0"/>
                    <a:pt x="167380" y="0"/>
                  </a:cubicBezTo>
                  <a:close/>
                </a:path>
              </a:pathLst>
            </a:custGeom>
            <a:blipFill>
              <a:blip r:embed="rId3"/>
              <a:stretch>
                <a:fillRect l="-2895" r="-2895"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1539467" y="6237450"/>
            <a:ext cx="639548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476744" y="0"/>
            <a:ext cx="5565113" cy="672181"/>
            <a:chOff x="0" y="0"/>
            <a:chExt cx="1465709" cy="1770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V="1">
            <a:off x="10036452" y="539189"/>
            <a:ext cx="1800625" cy="1800625"/>
          </a:xfrm>
          <a:custGeom>
            <a:avLst/>
            <a:gdLst/>
            <a:ahLst/>
            <a:cxnLst/>
            <a:rect l="l" t="t" r="r" b="b"/>
            <a:pathLst>
              <a:path w="1800625" h="1800625">
                <a:moveTo>
                  <a:pt x="0" y="1800626"/>
                </a:moveTo>
                <a:lnTo>
                  <a:pt x="1800625" y="1800626"/>
                </a:lnTo>
                <a:lnTo>
                  <a:pt x="1800625" y="0"/>
                </a:lnTo>
                <a:lnTo>
                  <a:pt x="0" y="0"/>
                </a:lnTo>
                <a:lnTo>
                  <a:pt x="0" y="18006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856412" y="6380411"/>
            <a:ext cx="3185444" cy="3197070"/>
          </a:xfrm>
          <a:custGeom>
            <a:avLst/>
            <a:gdLst/>
            <a:ahLst/>
            <a:cxnLst/>
            <a:rect l="l" t="t" r="r" b="b"/>
            <a:pathLst>
              <a:path w="3185444" h="3197070">
                <a:moveTo>
                  <a:pt x="0" y="0"/>
                </a:moveTo>
                <a:lnTo>
                  <a:pt x="3185444" y="0"/>
                </a:lnTo>
                <a:lnTo>
                  <a:pt x="3185444" y="3197069"/>
                </a:lnTo>
                <a:lnTo>
                  <a:pt x="0" y="3197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693353" y="8604387"/>
            <a:ext cx="2446666" cy="1330375"/>
          </a:xfrm>
          <a:custGeom>
            <a:avLst/>
            <a:gdLst/>
            <a:ahLst/>
            <a:cxnLst/>
            <a:rect l="l" t="t" r="r" b="b"/>
            <a:pathLst>
              <a:path w="2446666" h="1330375">
                <a:moveTo>
                  <a:pt x="0" y="0"/>
                </a:moveTo>
                <a:lnTo>
                  <a:pt x="2446666" y="0"/>
                </a:lnTo>
                <a:lnTo>
                  <a:pt x="2446666" y="1330374"/>
                </a:lnTo>
                <a:lnTo>
                  <a:pt x="0" y="13303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39467" y="4154586"/>
            <a:ext cx="6764504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RFM-COHORT </a:t>
            </a:r>
          </a:p>
          <a:p>
            <a:pPr algn="l">
              <a:lnSpc>
                <a:spcPts val="6800"/>
              </a:lnSpc>
            </a:pPr>
            <a:r>
              <a:rPr lang="en-US" sz="6800" spc="-374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9467" y="6679982"/>
            <a:ext cx="8153886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Compare, Evaluate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39467" y="1391877"/>
            <a:ext cx="533943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Market Analysis Presentation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39467" y="3529746"/>
            <a:ext cx="7204483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Customer Segmentation &amp;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16383000" y="266700"/>
            <a:ext cx="1752600" cy="2358580"/>
          </a:xfrm>
          <a:custGeom>
            <a:avLst/>
            <a:gdLst/>
            <a:ahLst/>
            <a:cxnLst/>
            <a:rect l="l" t="t" r="r" b="b"/>
            <a:pathLst>
              <a:path w="1800625" h="1800625">
                <a:moveTo>
                  <a:pt x="0" y="1800625"/>
                </a:moveTo>
                <a:lnTo>
                  <a:pt x="1800625" y="1800625"/>
                </a:lnTo>
                <a:lnTo>
                  <a:pt x="1800625" y="0"/>
                </a:lnTo>
                <a:lnTo>
                  <a:pt x="0" y="0"/>
                </a:lnTo>
                <a:lnTo>
                  <a:pt x="0" y="180062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780851-C09D-C77F-034C-437712066575}"/>
              </a:ext>
            </a:extLst>
          </p:cNvPr>
          <p:cNvSpPr/>
          <p:nvPr/>
        </p:nvSpPr>
        <p:spPr>
          <a:xfrm>
            <a:off x="457200" y="419100"/>
            <a:ext cx="6934200" cy="175260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8BC10E-F77C-21D7-CEA0-FE743B7EC3D8}"/>
              </a:ext>
            </a:extLst>
          </p:cNvPr>
          <p:cNvSpPr txBox="1"/>
          <p:nvPr/>
        </p:nvSpPr>
        <p:spPr>
          <a:xfrm>
            <a:off x="1295400" y="9525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Problem statement</a:t>
            </a:r>
            <a:r>
              <a:rPr lang="en-US" sz="3600" dirty="0">
                <a:latin typeface="Algerian" panose="04020705040A02060702" pitchFamily="82" charset="0"/>
              </a:rPr>
              <a:t> 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5B2B1-2FDB-7E1D-4424-744BAE6F94FE}"/>
              </a:ext>
            </a:extLst>
          </p:cNvPr>
          <p:cNvSpPr txBox="1"/>
          <p:nvPr/>
        </p:nvSpPr>
        <p:spPr>
          <a:xfrm>
            <a:off x="838200" y="2400300"/>
            <a:ext cx="1493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Rounded MT Bold" panose="020F0704030504030204" pitchFamily="34" charset="0"/>
              </a:rPr>
              <a:t>Develop a RFM (Recency, Frequency, Monetary) and Cohort Analysis system to segment customers and analyze retention trends. helps businesses understand customer value, purchase behavior, and retention patterns.</a:t>
            </a:r>
          </a:p>
          <a:p>
            <a:endParaRPr lang="en-IN" sz="3200" dirty="0">
              <a:latin typeface="Arial Rounded MT Bold" panose="020F070403050403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507FA2-FC6C-E7B9-541D-D0A9E97F4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327" y="4808706"/>
            <a:ext cx="8686799" cy="5029200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2E81D5-47FC-CE28-E352-371E895AC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9080" y="4794925"/>
            <a:ext cx="5030457" cy="50291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DBE4A40-6F8D-17AC-FF95-DD9B7E126763}"/>
              </a:ext>
            </a:extLst>
          </p:cNvPr>
          <p:cNvSpPr txBox="1"/>
          <p:nvPr/>
        </p:nvSpPr>
        <p:spPr>
          <a:xfrm>
            <a:off x="2057399" y="5433043"/>
            <a:ext cx="1753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DATA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5E740-2050-0654-1A28-713EE5100894}"/>
              </a:ext>
            </a:extLst>
          </p:cNvPr>
          <p:cNvSpPr txBox="1"/>
          <p:nvPr/>
        </p:nvSpPr>
        <p:spPr>
          <a:xfrm>
            <a:off x="457200" y="58293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u="sng" dirty="0">
                <a:latin typeface="Algerian" panose="04020705040A02060702" pitchFamily="82" charset="0"/>
              </a:rPr>
              <a:t>Data </a:t>
            </a:r>
            <a:r>
              <a:rPr lang="en-US" sz="3600" b="1" i="1" u="sng" dirty="0">
                <a:latin typeface="Algerian" panose="04020705040A02060702" pitchFamily="82" charset="0"/>
                <a:sym typeface="Wingdings" panose="05000000000000000000" pitchFamily="2" charset="2"/>
              </a:rPr>
              <a:t></a:t>
            </a:r>
            <a:endParaRPr lang="en-IN" sz="3600" b="1" i="1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88494-D9F2-2024-4A6A-2E0F05D0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4FFF60F5-3A6D-00C7-5FF5-CC3DE99FD357}"/>
              </a:ext>
            </a:extLst>
          </p:cNvPr>
          <p:cNvGrpSpPr/>
          <p:nvPr/>
        </p:nvGrpSpPr>
        <p:grpSpPr>
          <a:xfrm>
            <a:off x="14476744" y="9614819"/>
            <a:ext cx="5565113" cy="672181"/>
            <a:chOff x="0" y="0"/>
            <a:chExt cx="1465709" cy="1770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94CB00D-A2AD-43E0-7C69-02343022FC50}"/>
                </a:ext>
              </a:extLst>
            </p:cNvPr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DB69820-1719-1713-FF37-554EA29A67BB}"/>
                </a:ext>
              </a:extLst>
            </p:cNvPr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32A97D9D-0D7D-08B6-4FC4-0304109E4688}"/>
              </a:ext>
            </a:extLst>
          </p:cNvPr>
          <p:cNvSpPr/>
          <p:nvPr/>
        </p:nvSpPr>
        <p:spPr>
          <a:xfrm>
            <a:off x="361142" y="7891879"/>
            <a:ext cx="2866820" cy="2417008"/>
          </a:xfrm>
          <a:custGeom>
            <a:avLst/>
            <a:gdLst/>
            <a:ahLst/>
            <a:cxnLst/>
            <a:rect l="l" t="t" r="r" b="b"/>
            <a:pathLst>
              <a:path w="4120272" h="4135310">
                <a:moveTo>
                  <a:pt x="0" y="0"/>
                </a:moveTo>
                <a:lnTo>
                  <a:pt x="4120272" y="0"/>
                </a:lnTo>
                <a:lnTo>
                  <a:pt x="4120272" y="4135309"/>
                </a:lnTo>
                <a:lnTo>
                  <a:pt x="0" y="4135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05F6C9-2168-A1E4-10F1-34529F284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999" y="292884"/>
            <a:ext cx="10975313" cy="888349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B0039FA-8A6E-C022-2AF1-E23076B20E72}"/>
              </a:ext>
            </a:extLst>
          </p:cNvPr>
          <p:cNvSpPr txBox="1"/>
          <p:nvPr/>
        </p:nvSpPr>
        <p:spPr>
          <a:xfrm>
            <a:off x="1371600" y="1702832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EDA </a:t>
            </a:r>
            <a:endParaRPr lang="en-IN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4A7C77-18A3-1A2E-DF91-3D6E0C8D486A}"/>
              </a:ext>
            </a:extLst>
          </p:cNvPr>
          <p:cNvSpPr txBox="1"/>
          <p:nvPr/>
        </p:nvSpPr>
        <p:spPr>
          <a:xfrm>
            <a:off x="838200" y="110490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>
                <a:latin typeface="Algerian" panose="04020705040A02060702" pitchFamily="82" charset="0"/>
              </a:rPr>
              <a:t>Eda :</a:t>
            </a:r>
            <a:endParaRPr lang="en-IN" sz="4000" b="1" i="1" u="sng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275B5-D973-0271-9FAF-DDE60A6AFDFE}"/>
              </a:ext>
            </a:extLst>
          </p:cNvPr>
          <p:cNvSpPr txBox="1"/>
          <p:nvPr/>
        </p:nvSpPr>
        <p:spPr>
          <a:xfrm>
            <a:off x="361142" y="2628900"/>
            <a:ext cx="611585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White Hanging Heart T-Light Holder</a:t>
            </a:r>
            <a:r>
              <a:rPr lang="en-US" sz="2400" dirty="0"/>
              <a:t> is the most frequently purchased product.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Several </a:t>
            </a:r>
            <a:r>
              <a:rPr lang="en-US" sz="2400" b="1" dirty="0"/>
              <a:t>home-decor and gift-related products</a:t>
            </a:r>
            <a:r>
              <a:rPr lang="en-US" sz="2400" dirty="0"/>
              <a:t> dominate the top-selling list.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Products such as </a:t>
            </a:r>
            <a:r>
              <a:rPr lang="en-US" sz="2400" b="1" dirty="0"/>
              <a:t>Jumbo Bag Red </a:t>
            </a:r>
            <a:r>
              <a:rPr lang="en-US" sz="2400" b="1" dirty="0" err="1"/>
              <a:t>Retrospot</a:t>
            </a:r>
            <a:r>
              <a:rPr lang="en-US" sz="2400" dirty="0"/>
              <a:t>, </a:t>
            </a:r>
            <a:r>
              <a:rPr lang="en-US" sz="2400" b="1" dirty="0"/>
              <a:t>Regency </a:t>
            </a:r>
            <a:r>
              <a:rPr lang="en-US" sz="2400" b="1" dirty="0" err="1"/>
              <a:t>Cakestand</a:t>
            </a:r>
            <a:r>
              <a:rPr lang="en-US" sz="2400" b="1" dirty="0"/>
              <a:t> 3 Tier</a:t>
            </a:r>
            <a:r>
              <a:rPr lang="en-US" sz="2400" dirty="0"/>
              <a:t>, and </a:t>
            </a:r>
            <a:r>
              <a:rPr lang="en-US" sz="2400" b="1" dirty="0"/>
              <a:t>Rose Cottage Tea Cup &amp; Saucer</a:t>
            </a:r>
            <a:r>
              <a:rPr lang="en-US" sz="2400" dirty="0"/>
              <a:t> also have high purchase frequencies.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concentration of purchases around a few products indicates the presence of </a:t>
            </a:r>
            <a:r>
              <a:rPr lang="en-US" sz="2400" b="1" dirty="0"/>
              <a:t>strong best-selling products</a:t>
            </a:r>
            <a:r>
              <a:rPr lang="en-US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products can be prioritized for </a:t>
            </a:r>
            <a:r>
              <a:rPr lang="en-US" sz="2400" b="1" dirty="0"/>
              <a:t>inventory management, promotions, and cross-selling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693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457200" y="5829300"/>
            <a:ext cx="4120272" cy="4135310"/>
          </a:xfrm>
          <a:custGeom>
            <a:avLst/>
            <a:gdLst/>
            <a:ahLst/>
            <a:cxnLst/>
            <a:rect l="l" t="t" r="r" b="b"/>
            <a:pathLst>
              <a:path w="4120272" h="4135310">
                <a:moveTo>
                  <a:pt x="0" y="0"/>
                </a:moveTo>
                <a:lnTo>
                  <a:pt x="4120272" y="0"/>
                </a:lnTo>
                <a:lnTo>
                  <a:pt x="4120272" y="4135309"/>
                </a:lnTo>
                <a:lnTo>
                  <a:pt x="0" y="4135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F3B15A7B-2B70-650C-37A1-FC94629F29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2790908"/>
              </p:ext>
            </p:extLst>
          </p:nvPr>
        </p:nvGraphicFramePr>
        <p:xfrm>
          <a:off x="533400" y="1562100"/>
          <a:ext cx="172974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110DBAC-8FCF-C3AD-7469-50A08B27ABD9}"/>
              </a:ext>
            </a:extLst>
          </p:cNvPr>
          <p:cNvSpPr txBox="1"/>
          <p:nvPr/>
        </p:nvSpPr>
        <p:spPr>
          <a:xfrm>
            <a:off x="1143000" y="10287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>
                <a:latin typeface="Algerian" panose="04020705040A02060702" pitchFamily="82" charset="0"/>
              </a:rPr>
              <a:t>STEPS INVOLVED :</a:t>
            </a:r>
            <a:endParaRPr lang="en-IN" sz="4000" b="1" i="1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1C1F-479B-FC46-E8A3-CC8DA366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FE1F93B5-92B3-91FA-FE21-E0B1A3B2ACDA}"/>
              </a:ext>
            </a:extLst>
          </p:cNvPr>
          <p:cNvGrpSpPr/>
          <p:nvPr/>
        </p:nvGrpSpPr>
        <p:grpSpPr>
          <a:xfrm>
            <a:off x="14476744" y="9614819"/>
            <a:ext cx="5565113" cy="672181"/>
            <a:chOff x="0" y="0"/>
            <a:chExt cx="1465709" cy="1770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677C62E-64C4-550A-91E1-DAC905CB6F1B}"/>
                </a:ext>
              </a:extLst>
            </p:cNvPr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1A8FCAE-FCF7-5383-1825-98E0CB913E3F}"/>
                </a:ext>
              </a:extLst>
            </p:cNvPr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E1600D3A-318A-A3C3-8BD8-587AC12BB4F4}"/>
              </a:ext>
            </a:extLst>
          </p:cNvPr>
          <p:cNvSpPr/>
          <p:nvPr/>
        </p:nvSpPr>
        <p:spPr>
          <a:xfrm>
            <a:off x="261149" y="5890421"/>
            <a:ext cx="4120272" cy="4135310"/>
          </a:xfrm>
          <a:custGeom>
            <a:avLst/>
            <a:gdLst/>
            <a:ahLst/>
            <a:cxnLst/>
            <a:rect l="l" t="t" r="r" b="b"/>
            <a:pathLst>
              <a:path w="4120272" h="4135310">
                <a:moveTo>
                  <a:pt x="0" y="0"/>
                </a:moveTo>
                <a:lnTo>
                  <a:pt x="4120272" y="0"/>
                </a:lnTo>
                <a:lnTo>
                  <a:pt x="4120272" y="4135309"/>
                </a:lnTo>
                <a:lnTo>
                  <a:pt x="0" y="4135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DE354-3330-6FE9-1717-E08BCAD71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85153"/>
            <a:ext cx="12496799" cy="7853732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F21206A-8018-4E82-569C-26C70A16B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3" y="498386"/>
            <a:ext cx="496823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 small group of customers generates a </a:t>
            </a:r>
            <a:r>
              <a:rPr lang="en-US" altLang="en-US" sz="2000" b="1" dirty="0">
                <a:latin typeface="Arial" panose="020B0604020202020204" pitchFamily="34" charset="0"/>
              </a:rPr>
              <a:t>very large number of transactions</a:t>
            </a:r>
            <a:r>
              <a:rPr lang="en-US" altLang="en-US" sz="2000" dirty="0">
                <a:latin typeface="Arial" panose="020B0604020202020204" pitchFamily="34" charset="0"/>
              </a:rPr>
              <a:t> compared with other customers.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Customer </a:t>
            </a:r>
            <a:r>
              <a:rPr lang="en-US" altLang="en-US" sz="2000" b="1" dirty="0">
                <a:latin typeface="Arial" panose="020B0604020202020204" pitchFamily="34" charset="0"/>
              </a:rPr>
              <a:t>17841</a:t>
            </a:r>
            <a:r>
              <a:rPr lang="en-US" altLang="en-US" sz="2000" dirty="0">
                <a:latin typeface="Arial" panose="020B0604020202020204" pitchFamily="34" charset="0"/>
              </a:rPr>
              <a:t> is the most frequent customer in the chart.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difference between the top customer and the remaining customers indicates </a:t>
            </a:r>
            <a:r>
              <a:rPr lang="en-US" altLang="en-US" sz="2000" b="1" dirty="0">
                <a:latin typeface="Arial" panose="020B0604020202020204" pitchFamily="34" charset="0"/>
              </a:rPr>
              <a:t>unequal purchasing frequency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These high-frequency customers are potentially </a:t>
            </a:r>
            <a:r>
              <a:rPr lang="en-US" altLang="en-US" sz="2000" b="1" dirty="0">
                <a:latin typeface="Arial" panose="020B0604020202020204" pitchFamily="34" charset="0"/>
              </a:rPr>
              <a:t>loyal or high-value customers</a:t>
            </a:r>
            <a:r>
              <a:rPr lang="en-US" altLang="en-US" sz="2000" dirty="0"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The business can create </a:t>
            </a:r>
            <a:r>
              <a:rPr lang="en-US" altLang="en-US" sz="2000" b="1" dirty="0">
                <a:latin typeface="Arial" panose="020B0604020202020204" pitchFamily="34" charset="0"/>
              </a:rPr>
              <a:t>VIP programs, personalized offers, and loyalty rewards</a:t>
            </a:r>
            <a:r>
              <a:rPr lang="en-US" altLang="en-US" sz="2000" dirty="0">
                <a:latin typeface="Arial" panose="020B0604020202020204" pitchFamily="34" charset="0"/>
              </a:rPr>
              <a:t> for these customers. </a:t>
            </a:r>
          </a:p>
        </p:txBody>
      </p:sp>
    </p:spTree>
    <p:extLst>
      <p:ext uri="{BB962C8B-B14F-4D97-AF65-F5344CB8AC3E}">
        <p14:creationId xmlns:p14="http://schemas.microsoft.com/office/powerpoint/2010/main" val="257964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0257-AFF3-106A-64F9-21B45A2F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E35488-A740-56BD-B5A5-312B454C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89" y="3635072"/>
            <a:ext cx="8663511" cy="412463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4D5D4E-FF6A-F542-6BA2-B96C8186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5208745"/>
            <a:ext cx="8305800" cy="4206873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ABF46A-9DB9-1DB1-ABD4-73DB8119197C}"/>
              </a:ext>
            </a:extLst>
          </p:cNvPr>
          <p:cNvSpPr txBox="1"/>
          <p:nvPr/>
        </p:nvSpPr>
        <p:spPr>
          <a:xfrm>
            <a:off x="4114800" y="1104900"/>
            <a:ext cx="121920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4E2F9E41-9C74-2F4C-F42A-91CDE009EA0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81200" y="-26521"/>
            <a:ext cx="12039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World War 2 Gliders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Asstd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total quantity sold.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Jumbo Bag Red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Assorted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Colour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Bird Ornament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also among the strongest products.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difference between the first product and lower-ranked products shows that demand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 among a few products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products should be closely monitored to avoid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stock-outs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High-volume products can also be used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bundle offers and cross-selling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9369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7A2DFDB-5C57-A01F-A007-96C93062E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453096"/>
            <a:ext cx="7467600" cy="3380807"/>
          </a:xfrm>
          <a:prstGeom prst="rect">
            <a:avLst/>
          </a:prstGeom>
          <a:ln w="57150"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02E53C9-8F25-7EC3-CC34-8F5339898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5829300"/>
            <a:ext cx="9698947" cy="3859602"/>
          </a:xfrm>
          <a:prstGeom prst="rect">
            <a:avLst/>
          </a:prstGeom>
          <a:ln w="57150"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03B2D0-E19E-F747-56E9-F15116813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750498"/>
            <a:ext cx="13335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products have very low sales quantities.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products show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quantities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product returns or cancellations.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Rotating Silver Angels T-Light Holder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a particularly large negative quantity.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with consistently low demand may need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inventory or promotional support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with high negative quantities should be investigated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return-related issues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411165" y="8852535"/>
            <a:ext cx="349740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353724" y="8361972"/>
            <a:ext cx="2446666" cy="1330375"/>
          </a:xfrm>
          <a:custGeom>
            <a:avLst/>
            <a:gdLst/>
            <a:ahLst/>
            <a:cxnLst/>
            <a:rect l="l" t="t" r="r" b="b"/>
            <a:pathLst>
              <a:path w="2446666" h="1330375">
                <a:moveTo>
                  <a:pt x="0" y="0"/>
                </a:moveTo>
                <a:lnTo>
                  <a:pt x="2446665" y="0"/>
                </a:lnTo>
                <a:lnTo>
                  <a:pt x="2446665" y="1330375"/>
                </a:lnTo>
                <a:lnTo>
                  <a:pt x="0" y="1330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872DA45-D71C-50A5-22BF-D5BD73897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54" y="287076"/>
            <a:ext cx="8382000" cy="4018224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20A497B-5EEF-70E0-0D53-6DD2F4D60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650" y="4838700"/>
            <a:ext cx="11677626" cy="4826896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 flipV="1">
            <a:off x="381000" y="8556634"/>
            <a:ext cx="1800625" cy="1800625"/>
          </a:xfrm>
          <a:custGeom>
            <a:avLst/>
            <a:gdLst/>
            <a:ahLst/>
            <a:cxnLst/>
            <a:rect l="l" t="t" r="r" b="b"/>
            <a:pathLst>
              <a:path w="1800625" h="1800625">
                <a:moveTo>
                  <a:pt x="0" y="1800625"/>
                </a:moveTo>
                <a:lnTo>
                  <a:pt x="1800625" y="1800625"/>
                </a:lnTo>
                <a:lnTo>
                  <a:pt x="1800625" y="0"/>
                </a:lnTo>
                <a:lnTo>
                  <a:pt x="0" y="0"/>
                </a:lnTo>
                <a:lnTo>
                  <a:pt x="0" y="18006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392400" y="214702"/>
            <a:ext cx="2446666" cy="1330375"/>
          </a:xfrm>
          <a:custGeom>
            <a:avLst/>
            <a:gdLst/>
            <a:ahLst/>
            <a:cxnLst/>
            <a:rect l="l" t="t" r="r" b="b"/>
            <a:pathLst>
              <a:path w="2446666" h="1330375">
                <a:moveTo>
                  <a:pt x="0" y="0"/>
                </a:moveTo>
                <a:lnTo>
                  <a:pt x="2446666" y="0"/>
                </a:lnTo>
                <a:lnTo>
                  <a:pt x="2446666" y="1330374"/>
                </a:lnTo>
                <a:lnTo>
                  <a:pt x="0" y="133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E362A8-489B-C8A2-59CF-783434319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6966" y="1545077"/>
            <a:ext cx="7239000" cy="30153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7D7C08-214E-7F13-A1BD-E684C7BEE2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6966" y="5143500"/>
            <a:ext cx="9637595" cy="477064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2" name="Freeform 12">
            <a:extLst>
              <a:ext uri="{FF2B5EF4-FFF2-40B4-BE49-F238E27FC236}">
                <a16:creationId xmlns:a16="http://schemas.microsoft.com/office/drawing/2014/main" id="{CB4485F7-3C85-1E2C-2380-AB8E0EC2E7A4}"/>
              </a:ext>
            </a:extLst>
          </p:cNvPr>
          <p:cNvSpPr/>
          <p:nvPr/>
        </p:nvSpPr>
        <p:spPr>
          <a:xfrm>
            <a:off x="228600" y="342900"/>
            <a:ext cx="5565113" cy="672181"/>
          </a:xfrm>
          <a:custGeom>
            <a:avLst/>
            <a:gdLst/>
            <a:ahLst/>
            <a:cxnLst/>
            <a:rect l="l" t="t" r="r" b="b"/>
            <a:pathLst>
              <a:path w="1465709" h="177035">
                <a:moveTo>
                  <a:pt x="70949" y="0"/>
                </a:moveTo>
                <a:lnTo>
                  <a:pt x="1394760" y="0"/>
                </a:lnTo>
                <a:cubicBezTo>
                  <a:pt x="1433944" y="0"/>
                  <a:pt x="1465709" y="31765"/>
                  <a:pt x="1465709" y="70949"/>
                </a:cubicBezTo>
                <a:lnTo>
                  <a:pt x="1465709" y="106086"/>
                </a:lnTo>
                <a:cubicBezTo>
                  <a:pt x="1465709" y="145270"/>
                  <a:pt x="1433944" y="177035"/>
                  <a:pt x="1394760" y="177035"/>
                </a:cubicBezTo>
                <a:lnTo>
                  <a:pt x="70949" y="177035"/>
                </a:lnTo>
                <a:cubicBezTo>
                  <a:pt x="31765" y="177035"/>
                  <a:pt x="0" y="145270"/>
                  <a:pt x="0" y="106086"/>
                </a:cubicBezTo>
                <a:lnTo>
                  <a:pt x="0" y="70949"/>
                </a:lnTo>
                <a:cubicBezTo>
                  <a:pt x="0" y="31765"/>
                  <a:pt x="31765" y="0"/>
                  <a:pt x="70949" y="0"/>
                </a:cubicBezTo>
                <a:close/>
              </a:path>
            </a:pathLst>
          </a:custGeom>
          <a:solidFill>
            <a:srgbClr val="8B1E1E"/>
          </a:solid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52847-F8F7-7922-EC42-B9E6052A79F5}"/>
              </a:ext>
            </a:extLst>
          </p:cNvPr>
          <p:cNvSpPr txBox="1"/>
          <p:nvPr/>
        </p:nvSpPr>
        <p:spPr>
          <a:xfrm>
            <a:off x="4474724" y="3497972"/>
            <a:ext cx="9338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7B53A-709D-3156-B7EC-EA2846F6BB03}"/>
              </a:ext>
            </a:extLst>
          </p:cNvPr>
          <p:cNvSpPr txBox="1"/>
          <p:nvPr/>
        </p:nvSpPr>
        <p:spPr>
          <a:xfrm>
            <a:off x="990600" y="4159453"/>
            <a:ext cx="5943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products have very low sales quantities.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products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quantities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product returns or cancellations.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Rotating Silver Angels T-Light Holder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a particularly large negative quantity.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with consistently low demand may need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inventory or promotional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with high negative quantities should be investigated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return-related issues</a:t>
            </a:r>
            <a:endParaRPr lang="en-I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989093" y="5272622"/>
            <a:ext cx="4884815" cy="382679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35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246015" y="6647561"/>
            <a:ext cx="443094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 dirty="0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0" y="180841"/>
            <a:ext cx="5565113" cy="672181"/>
            <a:chOff x="0" y="0"/>
            <a:chExt cx="1465709" cy="1770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4537276" y="-115962"/>
            <a:ext cx="3185444" cy="3197070"/>
          </a:xfrm>
          <a:custGeom>
            <a:avLst/>
            <a:gdLst/>
            <a:ahLst/>
            <a:cxnLst/>
            <a:rect l="l" t="t" r="r" b="b"/>
            <a:pathLst>
              <a:path w="3185444" h="3197070">
                <a:moveTo>
                  <a:pt x="0" y="0"/>
                </a:moveTo>
                <a:lnTo>
                  <a:pt x="3185444" y="0"/>
                </a:lnTo>
                <a:lnTo>
                  <a:pt x="3185444" y="3197070"/>
                </a:lnTo>
                <a:lnTo>
                  <a:pt x="0" y="319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432D1D-D76D-BF4C-DD72-37BAD3388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1377042"/>
            <a:ext cx="6219764" cy="389558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87141E2-01F6-2922-B391-BAC69622A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1" y="6625674"/>
            <a:ext cx="6496102" cy="27906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E110F7D-2283-C69E-26FC-1DA536A48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967" y="6810935"/>
            <a:ext cx="6024494" cy="26961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D052FB-3D06-BF8B-2D24-DD258EB4FA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54919" y="6819852"/>
            <a:ext cx="5911213" cy="2458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228600" y="342900"/>
            <a:ext cx="5565113" cy="672181"/>
            <a:chOff x="0" y="0"/>
            <a:chExt cx="1465709" cy="1770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9614819"/>
            <a:ext cx="5565113" cy="672181"/>
            <a:chOff x="0" y="0"/>
            <a:chExt cx="1465709" cy="1770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V="1">
            <a:off x="16106375" y="8291240"/>
            <a:ext cx="1800625" cy="1800625"/>
          </a:xfrm>
          <a:custGeom>
            <a:avLst/>
            <a:gdLst/>
            <a:ahLst/>
            <a:cxnLst/>
            <a:rect l="l" t="t" r="r" b="b"/>
            <a:pathLst>
              <a:path w="1800625" h="1800625">
                <a:moveTo>
                  <a:pt x="0" y="1800625"/>
                </a:moveTo>
                <a:lnTo>
                  <a:pt x="1800626" y="1800625"/>
                </a:lnTo>
                <a:lnTo>
                  <a:pt x="1800626" y="0"/>
                </a:lnTo>
                <a:lnTo>
                  <a:pt x="0" y="0"/>
                </a:lnTo>
                <a:lnTo>
                  <a:pt x="0" y="18006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2AF1C7-1F38-28C9-9F29-A9E475FA4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292468"/>
            <a:ext cx="6631913" cy="365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DAB8FD-4C15-BC09-F829-7B583634FA9F}"/>
              </a:ext>
            </a:extLst>
          </p:cNvPr>
          <p:cNvSpPr txBox="1"/>
          <p:nvPr/>
        </p:nvSpPr>
        <p:spPr>
          <a:xfrm>
            <a:off x="1295400" y="3950068"/>
            <a:ext cx="12420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"The analysis shows that customer value is highly concentrated among a smaller group of highly engaged customers. RFM and clustering help identify these high-value customers, while cohort analysis reveals a significant retention challenge after the initial purchase. Therefore, the business should focus on retaining high-value customers, reactivating at-risk customers, improving early customer engagement, and optimizing inventory around best-selling products."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EC3E7-5FE9-7C33-77AB-DB5196ED0F4F}"/>
              </a:ext>
            </a:extLst>
          </p:cNvPr>
          <p:cNvSpPr txBox="1"/>
          <p:nvPr/>
        </p:nvSpPr>
        <p:spPr>
          <a:xfrm>
            <a:off x="4114800" y="18669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u="sng" dirty="0">
                <a:latin typeface="Algerian" panose="04020705040A02060702" pitchFamily="82" charset="0"/>
              </a:rPr>
              <a:t>conclusion</a:t>
            </a:r>
            <a:endParaRPr lang="en-IN" sz="3600" b="1" i="1" u="sng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115800" y="9182100"/>
            <a:ext cx="5565113" cy="672181"/>
            <a:chOff x="0" y="0"/>
            <a:chExt cx="1465709" cy="1770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261269"/>
            <a:ext cx="5565113" cy="672181"/>
            <a:chOff x="0" y="0"/>
            <a:chExt cx="1465709" cy="1770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07087" y="6657211"/>
            <a:ext cx="3185444" cy="3197070"/>
          </a:xfrm>
          <a:custGeom>
            <a:avLst/>
            <a:gdLst/>
            <a:ahLst/>
            <a:cxnLst/>
            <a:rect l="l" t="t" r="r" b="b"/>
            <a:pathLst>
              <a:path w="3185444" h="3197070">
                <a:moveTo>
                  <a:pt x="0" y="0"/>
                </a:moveTo>
                <a:lnTo>
                  <a:pt x="3185444" y="0"/>
                </a:lnTo>
                <a:lnTo>
                  <a:pt x="3185444" y="3197069"/>
                </a:lnTo>
                <a:lnTo>
                  <a:pt x="0" y="3197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040792" y="49096"/>
            <a:ext cx="2016602" cy="1096528"/>
          </a:xfrm>
          <a:custGeom>
            <a:avLst/>
            <a:gdLst/>
            <a:ahLst/>
            <a:cxnLst/>
            <a:rect l="l" t="t" r="r" b="b"/>
            <a:pathLst>
              <a:path w="2016602" h="1096528">
                <a:moveTo>
                  <a:pt x="0" y="0"/>
                </a:moveTo>
                <a:lnTo>
                  <a:pt x="2016602" y="0"/>
                </a:lnTo>
                <a:lnTo>
                  <a:pt x="2016602" y="1096527"/>
                </a:lnTo>
                <a:lnTo>
                  <a:pt x="0" y="1096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7C81A8-6019-1883-B930-7B29DA66B3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75568"/>
            <a:ext cx="6324601" cy="37497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70EE6D-AF03-D370-1FD6-6A8FCEE265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5567408"/>
            <a:ext cx="7086600" cy="32441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D91CBE2-4FBD-F94D-AEC4-710A6F7C63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1299539"/>
            <a:ext cx="6384701" cy="3989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FAE2-94B1-B61E-3026-5081AE8D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0435D338-F68B-0165-F0D1-494CB1787DBA}"/>
              </a:ext>
            </a:extLst>
          </p:cNvPr>
          <p:cNvGrpSpPr/>
          <p:nvPr/>
        </p:nvGrpSpPr>
        <p:grpSpPr>
          <a:xfrm>
            <a:off x="12115800" y="9182100"/>
            <a:ext cx="5565113" cy="672181"/>
            <a:chOff x="0" y="0"/>
            <a:chExt cx="1465709" cy="1770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7CF0285-8BEC-351C-E49A-567A64F33654}"/>
                </a:ext>
              </a:extLst>
            </p:cNvPr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AE773A2-9E67-52D1-F5B4-7F36CC35E23C}"/>
                </a:ext>
              </a:extLst>
            </p:cNvPr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22F5D2D-437F-1658-8B15-17FF631E6671}"/>
              </a:ext>
            </a:extLst>
          </p:cNvPr>
          <p:cNvGrpSpPr/>
          <p:nvPr/>
        </p:nvGrpSpPr>
        <p:grpSpPr>
          <a:xfrm>
            <a:off x="0" y="261269"/>
            <a:ext cx="5565113" cy="672181"/>
            <a:chOff x="0" y="0"/>
            <a:chExt cx="1465709" cy="17703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3FD294D-E030-FB77-8DAE-949C7047D36A}"/>
                </a:ext>
              </a:extLst>
            </p:cNvPr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68267EB-F7A0-5905-8860-9C1CB38B65AC}"/>
                </a:ext>
              </a:extLst>
            </p:cNvPr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94D98FC-63E4-9A77-537D-B1B359888B28}"/>
              </a:ext>
            </a:extLst>
          </p:cNvPr>
          <p:cNvSpPr/>
          <p:nvPr/>
        </p:nvSpPr>
        <p:spPr>
          <a:xfrm>
            <a:off x="298439" y="7353300"/>
            <a:ext cx="3185444" cy="3197070"/>
          </a:xfrm>
          <a:custGeom>
            <a:avLst/>
            <a:gdLst/>
            <a:ahLst/>
            <a:cxnLst/>
            <a:rect l="l" t="t" r="r" b="b"/>
            <a:pathLst>
              <a:path w="3185444" h="3197070">
                <a:moveTo>
                  <a:pt x="0" y="0"/>
                </a:moveTo>
                <a:lnTo>
                  <a:pt x="3185444" y="0"/>
                </a:lnTo>
                <a:lnTo>
                  <a:pt x="3185444" y="3197069"/>
                </a:lnTo>
                <a:lnTo>
                  <a:pt x="0" y="3197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D39280C-2ECF-0AC5-9A08-152E90BCD0EC}"/>
              </a:ext>
            </a:extLst>
          </p:cNvPr>
          <p:cNvSpPr/>
          <p:nvPr/>
        </p:nvSpPr>
        <p:spPr>
          <a:xfrm>
            <a:off x="16040792" y="49096"/>
            <a:ext cx="2016602" cy="1096528"/>
          </a:xfrm>
          <a:custGeom>
            <a:avLst/>
            <a:gdLst/>
            <a:ahLst/>
            <a:cxnLst/>
            <a:rect l="l" t="t" r="r" b="b"/>
            <a:pathLst>
              <a:path w="2016602" h="1096528">
                <a:moveTo>
                  <a:pt x="0" y="0"/>
                </a:moveTo>
                <a:lnTo>
                  <a:pt x="2016602" y="0"/>
                </a:lnTo>
                <a:lnTo>
                  <a:pt x="2016602" y="1096527"/>
                </a:lnTo>
                <a:lnTo>
                  <a:pt x="0" y="1096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1" name="Title Bar"/>
          <p:cNvSpPr/>
          <p:nvPr/>
        </p:nvSpPr>
        <p:spPr>
          <a:xfrm>
            <a:off x="0" y="228600"/>
            <a:ext cx="18288000" cy="1371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Key Insights &amp; Recommendations</a:t>
            </a:r>
          </a:p>
        </p:txBody>
      </p:sp>
      <p:sp>
        <p:nvSpPr>
          <p:cNvPr id="102" name="Insights Header"/>
          <p:cNvSpPr/>
          <p:nvPr/>
        </p:nvSpPr>
        <p:spPr>
          <a:xfrm>
            <a:off x="914400" y="2000250"/>
            <a:ext cx="7924800" cy="685800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103" name="Insights Body"/>
          <p:cNvSpPr/>
          <p:nvPr/>
        </p:nvSpPr>
        <p:spPr>
          <a:xfrm>
            <a:off x="914400" y="2914650"/>
            <a:ext cx="7924800" cy="6400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Revenue is concentrated in a small "Champions" segment (Recency ~14 days, Frequency ~272) – average spend $6,197 vs just $127 for Lost Customers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Retention drops sharply after month 1 across almost every cohort, falling from 100% to roughly 20–40% by month 2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K-Means clustering confirms 3 natural customer groups: low-value/inactive (1,545), mid-value (1,843), and high-value/loyal (984)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handful of outlier customers (9 total) each carry six-figure lifetime spend, far above the typical customer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UK accounts for the large majority of transactions, but retention quality varies meaningfully across cohort months</a:t>
            </a:r>
          </a:p>
        </p:txBody>
      </p:sp>
      <p:sp>
        <p:nvSpPr>
          <p:cNvPr id="104" name="Recs Header"/>
          <p:cNvSpPr/>
          <p:nvPr/>
        </p:nvSpPr>
        <p:spPr>
          <a:xfrm>
            <a:off x="9448800" y="2000250"/>
            <a:ext cx="7924800" cy="685800"/>
          </a:xfrm>
          <a:prstGeom prst="roundRect">
            <a:avLst/>
          </a:prstGeom>
          <a:solidFill>
            <a:srgbClr val="8B1E1E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105" name="Recs Body"/>
          <p:cNvSpPr/>
          <p:nvPr/>
        </p:nvSpPr>
        <p:spPr>
          <a:xfrm>
            <a:off x="9448800" y="2914650"/>
            <a:ext cx="7924800" cy="6400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Launch a loyalty/VIP program for Champions and the high-value cluster to protect and grow the ~$6K average spenders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Trigger automated win-back campaigns for At Risk and Lost customers (Recency beyond 150 days)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Strengthen post-first-purchase onboarding to soften the steep month-1 to month-2 retention drop-off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Assign dedicated account management to top outlier spenders (9 customers, $190K+ lifetime value)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 upsell/cross-sell offers on Potential Loyalists and the mid-value cluster before they drift toward churn</a:t>
            </a:r>
          </a:p>
        </p:txBody>
      </p:sp>
    </p:spTree>
    <p:extLst>
      <p:ext uri="{BB962C8B-B14F-4D97-AF65-F5344CB8AC3E}">
        <p14:creationId xmlns:p14="http://schemas.microsoft.com/office/powerpoint/2010/main" val="178227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V="1">
            <a:off x="370373" y="432368"/>
            <a:ext cx="1800625" cy="1800625"/>
          </a:xfrm>
          <a:custGeom>
            <a:avLst/>
            <a:gdLst/>
            <a:ahLst/>
            <a:cxnLst/>
            <a:rect l="l" t="t" r="r" b="b"/>
            <a:pathLst>
              <a:path w="1800625" h="1800625">
                <a:moveTo>
                  <a:pt x="0" y="1800625"/>
                </a:moveTo>
                <a:lnTo>
                  <a:pt x="1800625" y="1800625"/>
                </a:lnTo>
                <a:lnTo>
                  <a:pt x="1800625" y="0"/>
                </a:lnTo>
                <a:lnTo>
                  <a:pt x="0" y="0"/>
                </a:lnTo>
                <a:lnTo>
                  <a:pt x="0" y="18006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81227" y="8676697"/>
            <a:ext cx="2446666" cy="1330375"/>
          </a:xfrm>
          <a:custGeom>
            <a:avLst/>
            <a:gdLst/>
            <a:ahLst/>
            <a:cxnLst/>
            <a:rect l="l" t="t" r="r" b="b"/>
            <a:pathLst>
              <a:path w="2446666" h="1330375">
                <a:moveTo>
                  <a:pt x="0" y="0"/>
                </a:moveTo>
                <a:lnTo>
                  <a:pt x="2446666" y="0"/>
                </a:lnTo>
                <a:lnTo>
                  <a:pt x="2446666" y="1330375"/>
                </a:lnTo>
                <a:lnTo>
                  <a:pt x="0" y="1330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738240" y="5966887"/>
            <a:ext cx="307274" cy="384093"/>
          </a:xfrm>
          <a:custGeom>
            <a:avLst/>
            <a:gdLst/>
            <a:ahLst/>
            <a:cxnLst/>
            <a:rect l="l" t="t" r="r" b="b"/>
            <a:pathLst>
              <a:path w="307274" h="384093">
                <a:moveTo>
                  <a:pt x="0" y="0"/>
                </a:moveTo>
                <a:lnTo>
                  <a:pt x="307274" y="0"/>
                </a:lnTo>
                <a:lnTo>
                  <a:pt x="307274" y="384093"/>
                </a:lnTo>
                <a:lnTo>
                  <a:pt x="0" y="384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738240" y="4690792"/>
            <a:ext cx="359840" cy="417022"/>
          </a:xfrm>
          <a:custGeom>
            <a:avLst/>
            <a:gdLst/>
            <a:ahLst/>
            <a:cxnLst/>
            <a:rect l="l" t="t" r="r" b="b"/>
            <a:pathLst>
              <a:path w="359840" h="417022">
                <a:moveTo>
                  <a:pt x="0" y="0"/>
                </a:moveTo>
                <a:lnTo>
                  <a:pt x="359840" y="0"/>
                </a:lnTo>
                <a:lnTo>
                  <a:pt x="359840" y="417021"/>
                </a:lnTo>
                <a:lnTo>
                  <a:pt x="0" y="417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93333" y="5328392"/>
            <a:ext cx="397088" cy="384093"/>
          </a:xfrm>
          <a:custGeom>
            <a:avLst/>
            <a:gdLst/>
            <a:ahLst/>
            <a:cxnLst/>
            <a:rect l="l" t="t" r="r" b="b"/>
            <a:pathLst>
              <a:path w="397088" h="384093">
                <a:moveTo>
                  <a:pt x="0" y="0"/>
                </a:moveTo>
                <a:lnTo>
                  <a:pt x="397088" y="0"/>
                </a:lnTo>
                <a:lnTo>
                  <a:pt x="397088" y="384093"/>
                </a:lnTo>
                <a:lnTo>
                  <a:pt x="0" y="384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281770" y="5255437"/>
            <a:ext cx="2647031" cy="42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5"/>
              </a:lnSpc>
              <a:spcBef>
                <a:spcPct val="0"/>
              </a:spcBef>
            </a:pPr>
            <a:r>
              <a:rPr lang="en-US" sz="2396" b="1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@reallygreatsite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81770" y="4636463"/>
            <a:ext cx="2496651" cy="42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5"/>
              </a:lnSpc>
              <a:spcBef>
                <a:spcPct val="0"/>
              </a:spcBef>
            </a:pPr>
            <a:r>
              <a:rPr lang="en-US" sz="2396" b="1" u="none" strike="noStrike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+123-456-7890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9772" y="5900212"/>
            <a:ext cx="4433562" cy="42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5"/>
              </a:lnSpc>
              <a:spcBef>
                <a:spcPct val="0"/>
              </a:spcBef>
            </a:pPr>
            <a:r>
              <a:rPr lang="en-US" sz="2396" b="1" u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123 Anywhere St., Any City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38240" y="7266786"/>
            <a:ext cx="6286725" cy="147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 spc="-4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Try to translate benchmarking findings into strategic actions, prioritize improvements, reinforce strengths, and guide decisions to enhance competitive positioning effectively and efficiently.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A6A299-F874-EE8D-A618-A42ADBBA5FA6}"/>
              </a:ext>
            </a:extLst>
          </p:cNvPr>
          <p:cNvSpPr/>
          <p:nvPr/>
        </p:nvSpPr>
        <p:spPr>
          <a:xfrm>
            <a:off x="4321345" y="3238500"/>
            <a:ext cx="9443852" cy="266171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  <a:softEdge rad="635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Algerian" panose="04020705040A02060702" pitchFamily="82" charset="0"/>
              </a:rPr>
              <a:t>Thank you </a:t>
            </a:r>
            <a:endParaRPr lang="en-IN" sz="44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718</Words>
  <Application>Microsoft Office PowerPoint</Application>
  <PresentationFormat>Custom</PresentationFormat>
  <Paragraphs>67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Bahnschrift</vt:lpstr>
      <vt:lpstr>Heading Now 71-78</vt:lpstr>
      <vt:lpstr>Poppins Medium</vt:lpstr>
      <vt:lpstr>TT Firs Neue Bold</vt:lpstr>
      <vt:lpstr>Calibri</vt:lpstr>
      <vt:lpstr>Arial</vt:lpstr>
      <vt:lpstr>Algerian</vt:lpstr>
      <vt:lpstr>TT Firs Neue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INDIRA DEVI SENTHIL KUMAR</dc:creator>
  <cp:lastModifiedBy>INDIRA DEVI SENTHIL KUMAR</cp:lastModifiedBy>
  <cp:revision>4</cp:revision>
  <dcterms:created xsi:type="dcterms:W3CDTF">2006-08-16T00:00:00Z</dcterms:created>
  <dcterms:modified xsi:type="dcterms:W3CDTF">2026-08-31T14:59:05Z</dcterms:modified>
  <dc:identifier>DAHTvxemR0w</dc:identifier>
</cp:coreProperties>
</file>